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601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9FF"/>
                </a:solidFill>
              </a:defRPr>
            </a:pPr>
            <a:r>
              <a:t>AEROCADASTRAL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2D3EE"/>
                </a:solidFill>
              </a:defRPr>
            </a:pPr>
            <a:r>
              <a:t>Transforming Drone Vision into Smart Land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6CADC"/>
                </a:solidFill>
              </a:defRPr>
            </a:pPr>
            <a:r>
              <a:t>AI-assisted urban parcel mapping • Geospatial intelligence • Human-verified land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68580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37360" y="3520440"/>
            <a:ext cx="6858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166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SMART INDIA HACKATHON  |  SIH26012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6CADC"/>
                </a:solidFill>
              </a:defRPr>
            </a:pPr>
            <a:r>
              <a:t>React + Express + Python + PostGIS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6CADC"/>
                </a:solidFill>
              </a:defRPr>
            </a:pPr>
            <a:r>
              <a:t>AEROCADASTRAL AI  •  SIH26012  • 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9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2D3EE"/>
                </a:solidFill>
              </a:defRPr>
            </a:pPr>
            <a:r>
              <a:t>Urban land administration needs reliable, up-to-date spatial records.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411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Manual digitisation of drone and aerial imagery is time-consuming.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Buildings, roads and parcel features must be converted into usable GIS geometries.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Reviewers need transparent tools to correct AI outputs before they enter a land-record workflow.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Prototype objective: shorten the imagery-to-review cycle while keeping human verification central.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6CADC"/>
                </a:solidFill>
              </a:defRPr>
            </a:pPr>
            <a:r>
              <a:t>AEROCADASTRAL AI  •  SIH26012  • 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9FF"/>
                </a:solidFill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2D3EE"/>
                </a:solidFill>
              </a:defRPr>
            </a:pPr>
            <a:r>
              <a:t>An end-to-end workflow from drone imagery to reviewable geospatial features.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411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Upload drone imagery, including georeferenced GeoTIFF orthomosaics.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Run AI-assisted segmentation for visible classes such as buildings and roads.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Convert detected masks to vector polygons and preserve georeferencing where metadata is valid.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Create clearly labelled heuristic parcel candidates for manual review.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Edit, approve or reject features and export structured GIS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6CADC"/>
                </a:solidFill>
              </a:defRPr>
            </a:pPr>
            <a:r>
              <a:t>AEROCADASTRAL AI  •  SIH26012  • 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9FF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2D3EE"/>
                </a:solidFill>
              </a:defRPr>
            </a:pPr>
            <a:r>
              <a:t>A demonstrable prototype, not just a static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411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0F9FF"/>
                </a:solidFill>
              </a:defRPr>
            </a:pPr>
            <a:r>
              <a:t>•  Interactive React + Leaflet map with drawing and geometry-edit tools.</a:t>
            </a:r>
          </a:p>
          <a:p>
            <a:pPr>
              <a:spcAft>
                <a:spcPts val="1600"/>
              </a:spcAft>
              <a:defRPr sz="1600">
                <a:solidFill>
                  <a:srgbClr val="F0F9FF"/>
                </a:solidFill>
              </a:defRPr>
            </a:pPr>
            <a:r>
              <a:t>•  Python inference service using a pretrained SegFormer model.</a:t>
            </a:r>
          </a:p>
          <a:p>
            <a:pPr>
              <a:spcAft>
                <a:spcPts val="1600"/>
              </a:spcAft>
              <a:defRPr sz="1600">
                <a:solidFill>
                  <a:srgbClr val="F0F9FF"/>
                </a:solidFill>
              </a:defRPr>
            </a:pPr>
            <a:r>
              <a:t>•  GeoTIFF CRS / affine-transform processing and GeoJSON export.</a:t>
            </a:r>
          </a:p>
          <a:p>
            <a:pPr>
              <a:spcAft>
                <a:spcPts val="1600"/>
              </a:spcAft>
              <a:defRPr sz="1600">
                <a:solidFill>
                  <a:srgbClr val="F0F9FF"/>
                </a:solidFill>
              </a:defRPr>
            </a:pPr>
            <a:r>
              <a:t>•  Human verification states: pending, approved and rejected.</a:t>
            </a:r>
          </a:p>
          <a:p>
            <a:pPr>
              <a:spcAft>
                <a:spcPts val="1600"/>
              </a:spcAft>
              <a:defRPr sz="1600">
                <a:solidFill>
                  <a:srgbClr val="F0F9FF"/>
                </a:solidFill>
              </a:defRPr>
            </a:pPr>
            <a:r>
              <a:t>•  Statistics dashboard, CSV / GeoJSON exports and an SIH summary report.</a:t>
            </a:r>
          </a:p>
          <a:p>
            <a:pPr>
              <a:spcAft>
                <a:spcPts val="1600"/>
              </a:spcAft>
              <a:defRPr sz="1600">
                <a:solidFill>
                  <a:srgbClr val="F0F9FF"/>
                </a:solidFill>
              </a:defRPr>
            </a:pPr>
            <a:r>
              <a:t>•  Optional PostgreSQL + PostGIS persistence and spatial index.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6CADC"/>
                </a:solidFill>
              </a:defRPr>
            </a:pPr>
            <a:r>
              <a:t>AEROCADASTRAL AI  •  SIH26012  • 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9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2D3EE"/>
                </a:solidFill>
              </a:defRPr>
            </a:pPr>
            <a:r>
              <a:t>Three application layers with an optional spatial database.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411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Frontend: React + Vite + Leaflet for upload, map editing, review and exports.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Backend: Express API for uploads, feature CRUD, statistics and routing to AI service.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AI service: FastAPI + PyTorch + Rasterio + OpenCV + Shapely.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Data: GeoJSON interchange and optional PostgreSQL / PostGIS storage.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Refer to the accompanying architecture diagram for service and data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6CADC"/>
                </a:solidFill>
              </a:defRPr>
            </a:pPr>
            <a:r>
              <a:t>AEROCADASTRAL AI  •  SIH26012  • 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9FF"/>
                </a:solidFill>
              </a:defRPr>
            </a:pPr>
            <a:r>
              <a:t>AI &amp; Geospatial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2D3EE"/>
                </a:solidFill>
              </a:defRPr>
            </a:pPr>
            <a:r>
              <a:t>Image understanding and map alignment are separate, testable steps.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411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Validate image format and file size; for GeoTIFF, read CRS and affine transform.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Run pretrained semantic segmentation and post-process masks into polygon candidates.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Transform pixel coordinates into geographic coordinates only when valid georeferencing is available.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Display confidence and review status where available; preserve source and candidate metadata.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Export geometry and attributes for GIS inspection.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6CADC"/>
                </a:solidFill>
              </a:defRPr>
            </a:pPr>
            <a:r>
              <a:t>AEROCADASTRAL AI  •  SIH26012  • 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9FF"/>
                </a:solidFill>
              </a:defRPr>
            </a:pPr>
            <a:r>
              <a:t>Human Verification &amp;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2D3EE"/>
                </a:solidFill>
              </a:defRPr>
            </a:pPr>
            <a:r>
              <a:t>AI supports reviewers; it does not certify ownership.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411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Map operators inspect polygons and edit geometry against authoritative reference layers.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Reviewers approve or reject each feature; changes can be saved to PostGIS when configured.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Keep provenance, confidence, status and candidate source visible.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Never treat heuristic parcel proposals as legal property boundaries.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Use cadastral records, survey control and qualified review before operational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6CADC"/>
                </a:solidFill>
              </a:defRPr>
            </a:pPr>
            <a:r>
              <a:t>AEROCADASTRAL AI  •  SIH26012  • 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9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2D3EE"/>
                </a:solidFill>
              </a:defRPr>
            </a:pPr>
            <a:r>
              <a:t>Preserve the existing React + Express + Python architecture.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411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React / Vite / Leaflet / Leaflet-Geoman — user interface and map editing.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Node.js / Express / Multer — APIs and upload workflow.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Python / FastAPI / PyTorch / SegFormer — model inference.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Rasterio / PyProj / OpenCV / Shapely — geospatial and vector processing.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PostgreSQL / PostGIS — optional persistent spatial storage.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6CADC"/>
                </a:solidFill>
              </a:defRPr>
            </a:pPr>
            <a:r>
              <a:t>AEROCADASTRAL AI  •  SIH26012  • 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9FF"/>
                </a:solidFill>
              </a:defRPr>
            </a:pPr>
            <a:r>
              <a:t>Demo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2D3EE"/>
                </a:solidFill>
              </a:defRPr>
            </a:pPr>
            <a:r>
              <a:t>A repeatable 5–7 minute demonstration.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411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0F9FF"/>
                </a:solidFill>
              </a:defRPr>
            </a:pPr>
            <a:r>
              <a:t>•  1. Open dashboard and explain sample records are illustrative.</a:t>
            </a:r>
          </a:p>
          <a:p>
            <a:pPr>
              <a:spcAft>
                <a:spcPts val="1600"/>
              </a:spcAft>
              <a:defRPr sz="1600">
                <a:solidFill>
                  <a:srgbClr val="F0F9FF"/>
                </a:solidFill>
              </a:defRPr>
            </a:pPr>
            <a:r>
              <a:t>•  2. Upload a GeoTIFF with a known CRS and affine transform.</a:t>
            </a:r>
          </a:p>
          <a:p>
            <a:pPr>
              <a:spcAft>
                <a:spcPts val="1600"/>
              </a:spcAft>
              <a:defRPr sz="1600">
                <a:solidFill>
                  <a:srgbClr val="F0F9FF"/>
                </a:solidFill>
              </a:defRPr>
            </a:pPr>
            <a:r>
              <a:t>•  3. Run AI analysis; show overlay, extracted features and the candidate notice.</a:t>
            </a:r>
          </a:p>
          <a:p>
            <a:pPr>
              <a:spcAft>
                <a:spcPts val="1600"/>
              </a:spcAft>
              <a:defRPr sz="1600">
                <a:solidFill>
                  <a:srgbClr val="F0F9FF"/>
                </a:solidFill>
              </a:defRPr>
            </a:pPr>
            <a:r>
              <a:t>•  4. Open Map Explorer and edit a polygon using the map controls.</a:t>
            </a:r>
          </a:p>
          <a:p>
            <a:pPr>
              <a:spcAft>
                <a:spcPts val="1600"/>
              </a:spcAft>
              <a:defRPr sz="1600">
                <a:solidFill>
                  <a:srgbClr val="F0F9FF"/>
                </a:solidFill>
              </a:defRPr>
            </a:pPr>
            <a:r>
              <a:t>•  5. Approve one feature and reject another in Parcel Review.</a:t>
            </a:r>
          </a:p>
          <a:p>
            <a:pPr>
              <a:spcAft>
                <a:spcPts val="1600"/>
              </a:spcAft>
              <a:defRPr sz="1600">
                <a:solidFill>
                  <a:srgbClr val="F0F9FF"/>
                </a:solidFill>
              </a:defRPr>
            </a:pPr>
            <a:r>
              <a:t>•  6. Show statistics, then export GeoJSON, CSV and the SIH report.</a:t>
            </a:r>
          </a:p>
          <a:p>
            <a:pPr>
              <a:spcAft>
                <a:spcPts val="1600"/>
              </a:spcAft>
              <a:defRPr sz="1600">
                <a:solidFill>
                  <a:srgbClr val="F0F9FF"/>
                </a:solidFill>
              </a:defRPr>
            </a:pPr>
            <a:r>
              <a:t>•  7. Explain limitations and how authoritative cadastral references validate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6CADC"/>
                </a:solidFill>
              </a:defRPr>
            </a:pPr>
            <a:r>
              <a:t>AEROCADASTRAL AI  •  SIH26012  • 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9FF"/>
                </a:solidFill>
              </a:defRPr>
            </a:pPr>
            <a:r>
              <a:t>Validation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2D3EE"/>
                </a:solidFill>
              </a:defRPr>
            </a:pPr>
            <a:r>
              <a:t>Measure quality rather than claiming accuracy without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411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Detection: precision, recall and F1 against labelled imagery.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Geometry: IoU / intersection-over-union and boundary displacement against reference polygons.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Georeferencing: compare known control points and coordinate residuals.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Workflow: processing time, reviewer correction time and proportion of candidates accepted.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Robustness: test multiple image resolutions, shadows, occlusion and varied urban layouts.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6CADC"/>
                </a:solidFill>
              </a:defRPr>
            </a:pPr>
            <a:r>
              <a:t>AEROCADASTRAL AI  •  SIH26012  • 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9FF"/>
                </a:solidFill>
              </a:defRPr>
            </a:pPr>
            <a:r>
              <a:t>Roadmap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2D3EE"/>
                </a:solidFill>
              </a:defRPr>
            </a:pPr>
            <a:r>
              <a:t>Move from prototype to a validated land-record assistance workflow.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411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Phase 1: validate the demo pipeline on representative georeferenced imagery.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Phase 2: curate a cadastral-specific labelled dataset and fine-tune segmentation models.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Phase 3: integrate authoritative parcel and survey reference layers.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Phase 4: add role-based review, audit trail, project management and deployment hardening.</a:t>
            </a:r>
          </a:p>
          <a:p>
            <a:pPr>
              <a:spcAft>
                <a:spcPts val="1600"/>
              </a:spcAft>
              <a:defRPr sz="1800">
                <a:solidFill>
                  <a:srgbClr val="F0F9FF"/>
                </a:solidFill>
              </a:defRPr>
            </a:pPr>
            <a:r>
              <a:t>•  Expected benefit to evaluate: faster initial digitisation with traceable human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6CADC"/>
                </a:solidFill>
              </a:defRPr>
            </a:pPr>
            <a:r>
              <a:t>AEROCADASTRAL AI  •  SIH26012  • 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9FF"/>
                </a:solidFill>
              </a:defRPr>
            </a:pPr>
            <a:r>
              <a:t>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2D3EE"/>
                </a:solidFill>
              </a:defRPr>
            </a:pPr>
            <a:r>
              <a:t>Application and geospatial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97280" cy="411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eroCadastr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6CADC"/>
                </a:solidFill>
              </a:defRPr>
            </a:pPr>
            <a:r>
              <a:t>AEROCADASTRAL AI  •  SIH26012  • 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